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61" r:id="rId2"/>
    <p:sldId id="257" r:id="rId3"/>
    <p:sldId id="292" r:id="rId4"/>
    <p:sldId id="273" r:id="rId5"/>
    <p:sldId id="275" r:id="rId6"/>
    <p:sldId id="276" r:id="rId7"/>
    <p:sldId id="289" r:id="rId8"/>
    <p:sldId id="278" r:id="rId9"/>
    <p:sldId id="290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93" r:id="rId18"/>
    <p:sldId id="287" r:id="rId19"/>
    <p:sldId id="296" r:id="rId20"/>
    <p:sldId id="297" r:id="rId21"/>
    <p:sldId id="294" r:id="rId22"/>
    <p:sldId id="295" r:id="rId23"/>
    <p:sldId id="277" r:id="rId24"/>
    <p:sldId id="291" r:id="rId25"/>
    <p:sldId id="274" r:id="rId26"/>
    <p:sldId id="28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halyosser" userId="d65f299c-a573-4604-b2ff-d3ca0e96935c" providerId="ADAL" clId="{FA729DCF-2DDF-4C1A-8E04-810D9D2D1515}"/>
    <pc:docChg chg="custSel modSld sldOrd">
      <pc:chgData name="fhalyosser" userId="d65f299c-a573-4604-b2ff-d3ca0e96935c" providerId="ADAL" clId="{FA729DCF-2DDF-4C1A-8E04-810D9D2D1515}" dt="2025-11-20T17:22:42.123" v="342"/>
      <pc:docMkLst>
        <pc:docMk/>
      </pc:docMkLst>
      <pc:sldChg chg="modSp mod ord">
        <pc:chgData name="fhalyosser" userId="d65f299c-a573-4604-b2ff-d3ca0e96935c" providerId="ADAL" clId="{FA729DCF-2DDF-4C1A-8E04-810D9D2D1515}" dt="2025-11-20T17:22:42.123" v="342"/>
        <pc:sldMkLst>
          <pc:docMk/>
          <pc:sldMk cId="3854805654" sldId="274"/>
        </pc:sldMkLst>
        <pc:spChg chg="mod">
          <ac:chgData name="fhalyosser" userId="d65f299c-a573-4604-b2ff-d3ca0e96935c" providerId="ADAL" clId="{FA729DCF-2DDF-4C1A-8E04-810D9D2D1515}" dt="2025-11-03T21:45:20.885" v="305"/>
          <ac:spMkLst>
            <pc:docMk/>
            <pc:sldMk cId="3854805654" sldId="274"/>
            <ac:spMk id="2" creationId="{0835DC50-7883-1A3D-4946-9E23DE885DBC}"/>
          </ac:spMkLst>
        </pc:spChg>
        <pc:graphicFrameChg chg="modGraphic">
          <ac:chgData name="fhalyosser" userId="d65f299c-a573-4604-b2ff-d3ca0e96935c" providerId="ADAL" clId="{FA729DCF-2DDF-4C1A-8E04-810D9D2D1515}" dt="2025-11-03T21:47:11.423" v="308" actId="20577"/>
          <ac:graphicFrameMkLst>
            <pc:docMk/>
            <pc:sldMk cId="3854805654" sldId="274"/>
            <ac:graphicFrameMk id="8" creationId="{EF154028-DD3C-F45A-E4FF-52659ED18C15}"/>
          </ac:graphicFrameMkLst>
        </pc:graphicFrameChg>
      </pc:sldChg>
      <pc:sldChg chg="modSp mod">
        <pc:chgData name="fhalyosser" userId="d65f299c-a573-4604-b2ff-d3ca0e96935c" providerId="ADAL" clId="{FA729DCF-2DDF-4C1A-8E04-810D9D2D1515}" dt="2025-11-03T22:43:12.817" v="337" actId="113"/>
        <pc:sldMkLst>
          <pc:docMk/>
          <pc:sldMk cId="4010602901" sldId="279"/>
        </pc:sldMkLst>
        <pc:spChg chg="mod">
          <ac:chgData name="fhalyosser" userId="d65f299c-a573-4604-b2ff-d3ca0e96935c" providerId="ADAL" clId="{FA729DCF-2DDF-4C1A-8E04-810D9D2D1515}" dt="2025-11-03T22:43:12.817" v="337" actId="113"/>
          <ac:spMkLst>
            <pc:docMk/>
            <pc:sldMk cId="4010602901" sldId="279"/>
            <ac:spMk id="3" creationId="{38196109-41C2-D5B6-73C3-2753F9F12746}"/>
          </ac:spMkLst>
        </pc:spChg>
      </pc:sldChg>
      <pc:sldChg chg="modSp mod">
        <pc:chgData name="fhalyosser" userId="d65f299c-a573-4604-b2ff-d3ca0e96935c" providerId="ADAL" clId="{FA729DCF-2DDF-4C1A-8E04-810D9D2D1515}" dt="2025-11-03T22:43:53.308" v="338" actId="113"/>
        <pc:sldMkLst>
          <pc:docMk/>
          <pc:sldMk cId="1762207314" sldId="280"/>
        </pc:sldMkLst>
        <pc:spChg chg="mod">
          <ac:chgData name="fhalyosser" userId="d65f299c-a573-4604-b2ff-d3ca0e96935c" providerId="ADAL" clId="{FA729DCF-2DDF-4C1A-8E04-810D9D2D1515}" dt="2025-11-03T22:43:53.308" v="338" actId="113"/>
          <ac:spMkLst>
            <pc:docMk/>
            <pc:sldMk cId="1762207314" sldId="280"/>
            <ac:spMk id="3" creationId="{06AE250F-F923-F249-AF26-64AA56172F5B}"/>
          </ac:spMkLst>
        </pc:spChg>
      </pc:sldChg>
      <pc:sldChg chg="ord">
        <pc:chgData name="fhalyosser" userId="d65f299c-a573-4604-b2ff-d3ca0e96935c" providerId="ADAL" clId="{FA729DCF-2DDF-4C1A-8E04-810D9D2D1515}" dt="2025-11-03T17:29:03.317" v="4"/>
        <pc:sldMkLst>
          <pc:docMk/>
          <pc:sldMk cId="110947575" sldId="288"/>
        </pc:sldMkLst>
      </pc:sldChg>
      <pc:sldChg chg="addSp modSp mod">
        <pc:chgData name="fhalyosser" userId="d65f299c-a573-4604-b2ff-d3ca0e96935c" providerId="ADAL" clId="{FA729DCF-2DDF-4C1A-8E04-810D9D2D1515}" dt="2025-11-03T21:41:28.819" v="304" actId="12"/>
        <pc:sldMkLst>
          <pc:docMk/>
          <pc:sldMk cId="82019443" sldId="293"/>
        </pc:sldMkLst>
        <pc:spChg chg="mod">
          <ac:chgData name="fhalyosser" userId="d65f299c-a573-4604-b2ff-d3ca0e96935c" providerId="ADAL" clId="{FA729DCF-2DDF-4C1A-8E04-810D9D2D1515}" dt="2025-11-03T21:41:28.819" v="304" actId="12"/>
          <ac:spMkLst>
            <pc:docMk/>
            <pc:sldMk cId="82019443" sldId="293"/>
            <ac:spMk id="3" creationId="{649B71E0-4FD2-4BC0-A036-11E68AB51D06}"/>
          </ac:spMkLst>
        </pc:spChg>
      </pc:sldChg>
      <pc:sldChg chg="delSp modSp mod">
        <pc:chgData name="fhalyosser" userId="d65f299c-a573-4604-b2ff-d3ca0e96935c" providerId="ADAL" clId="{FA729DCF-2DDF-4C1A-8E04-810D9D2D1515}" dt="2025-11-03T17:28:57.175" v="2"/>
        <pc:sldMkLst>
          <pc:docMk/>
          <pc:sldMk cId="2088697400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2EACA-82F3-4C24-A566-B845616B9CB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631E5-516C-44ED-AEB8-481A17F57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57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51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D9C5-20C0-6D3B-9E20-D3439ED8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F20EC-8A14-6C8B-13DD-01EA2D732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E829-5DD2-1DE6-18E9-73C7BD351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0CCF0-9007-B057-A1E3-DE52AD328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405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E8BB-6921-AA6E-1823-00FE2E5A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23EDF-6491-CD0F-72CF-1951B79A1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BA93F-6F18-0543-E51E-4DE77E540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48C28-7AA9-96D8-AF9C-06EE91E95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646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8FC44-B31D-D37A-6465-FCBC79B72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9243E-5D85-2199-7873-33C526438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4A47A-5B87-81A2-87AA-45E8AB364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FF6D6-B462-6391-BD91-1D5FB18C5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837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5BA7-F643-E961-0B04-5B1B8B611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61D43-2566-3AEE-8272-5716F6B4A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9594E-F9CC-7C7D-C2CB-F607D54B4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7E89F-A9C7-15C1-13C5-A89A734D68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144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7B53-378D-9E65-9F6C-AC2C6E44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0516E-ABA1-3AE7-945F-E886DBF7E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21C67-704E-7D5B-AD54-124CA87C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153FB-8D46-D2CE-CF74-973F2F24D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44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F0CD-88AD-6479-7F14-0836D7E0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294EE-B349-90E7-9EDE-6A22FF09F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510C5-924B-43F5-335E-B0ACFD1E7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31EB4-7344-D132-504A-2BE495867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15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46F1-4C8D-8902-3320-1EAF5D16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71B5B-FD6F-D6CB-CAD7-E21DDAA51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28A72-FA00-4D34-811A-40B93A307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A5FF3-7D64-4382-2626-438ABA831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253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7255-46E6-618C-2D2D-4F1C082C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B998D-912C-2160-1A05-90D7E8C81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C1644-1EF5-3FD8-38B3-ACED99CBA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E13A9-6022-4DEE-7A10-4C1DF9043F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657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058ED-21F3-9196-D584-6AF4A354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BFA50-D786-9D78-952A-FB5866D1E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8F09A-13C8-4DAD-A0A7-2CE211F83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EE0ED-8F29-6F2A-E21A-5D5505B08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483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EC4B-BF83-0629-83E7-6741C89C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A2F3E-A0BC-7553-938E-1738F0AEE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C7FF4-AA4F-20DA-3847-44C7FD79A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107AE-A2FE-5058-34B0-A1D096C34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412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2BCD1-E745-49FF-3C2C-21CFA0F8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0C70D-1EA8-4EAE-523E-8F1C63D4E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7E06B-84EA-B714-1B74-E2E0AA59E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69FFD-9EF0-44B2-8582-B27196DCA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293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A39E-C998-37C7-2A01-6BD40F0E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CCA88-824C-1626-028A-89AF3DBA9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362D8-4A67-0711-9FDA-B09E30DE1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12817-1925-56FA-A91B-1949781C4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337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BF55-8E04-71D9-906C-E9F64839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9B4E9-C353-4AD7-4F67-C76EC8A42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C3AEB-558C-39DB-DE57-C2C737214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FD662-D870-49A0-844B-8A9012903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700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7483-3292-44E0-A44F-3F7A8D90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5D41D-FBB3-1D90-9E07-E6E7C91E2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3F9F1-D5FD-715E-6289-E72EAC966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12C6B-C7BE-1450-4CE5-A87D31B689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383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72027-4740-BCAF-BFD7-9F0B2F70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96B99-9C9C-AE2A-C93D-18FA3C87D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65538-1975-D568-C111-8E2948A3F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4B231-F99C-A76B-5D90-4C9A4F01D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500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90FE-0795-7FE0-DA20-F1F5CABC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56E27-30EA-0DE3-8691-6712EA851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40BFE-12C5-0AEF-B90B-A27197CD3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B002E-B953-04E0-81A9-9E9DB1F69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039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BC36-8536-051D-FCDD-26BF2706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F689B-7DC8-E771-F304-32F463B25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D816C-A8B3-EEF9-0786-DD78811DC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DB40F-68FE-3C1E-8D01-B30F9D38F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165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7CB1-206F-556E-681E-58EDFE1F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01715-8DF7-3E6A-35DC-6EC25CBEF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174A0-F4DA-FF2B-7263-604A67F18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2E48-51E5-4DBD-CDAD-684FA56469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379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9DBE-0E31-C0DD-1367-9D6F9F2D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71873-01AF-BDAB-D79E-C93334F7D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9EED2-59F0-F159-764B-B00AE1F6B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349F2-7BF1-C988-18BA-8B32C5177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8585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136F-F12F-85CF-8B0D-0A09FDBF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311CA-4224-BD6A-02CD-4AA266954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2C9E1-4B83-CFA7-AC5D-75937E307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4FDE2-D565-CA8A-EA97-CD71EB4A4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457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BA08-F421-3931-7FEE-9637CF655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F0308-F55E-255E-4BE6-3B75E1E5C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90EF7-5B91-3BD2-F35A-3593293C2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8D4B5-90BD-D536-7FF8-C53C900A7E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691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D373-1F70-EF45-D9C9-C3515073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E5DC4-7F06-D70F-0E8F-DC8BFD117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B225A-A938-181F-A3DF-49C53241F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17F6E-6FE5-6F23-3D8B-B86DDEFBA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6388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8025-EB4C-860B-B20F-5C17BF0A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B2464-F164-5DF8-D1FB-5EC48B457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786EB-A552-76E2-D35C-DB25F3C01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4EA50-F9A7-2DFB-D3DA-DA563BB33F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229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8C04-803B-6CB3-4561-5547C036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079FC-00CE-723A-0199-622512226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A4F29-EC70-4564-AE91-808509DF3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5340F-18AA-E545-D81A-4B359BE479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927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05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5B763A-D75A-4105-8790-A0187820CDAA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6047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52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105F2B-F84E-4F2D-B754-4F2D473F37D5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1207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0B3B4C-F094-4CAD-9AB2-E9FA0C5FBC03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5495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D1DA0A-6309-4F04-9A92-076DD5FD4680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647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F77C12-99F7-4185-BF2C-B0767C1E3C81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9961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50769E2-F24A-41E9-BD21-8557604DF928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31375A4-56A4-47D6-9801-1991572033F7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121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284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C0D19C-C5D4-4C4B-89A4-4576CC2D828E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1723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C36FE2-4D75-4FA6-B189-1AAF0CB53EF9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0267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82609E82-ED4E-4348-82C6-04FCC18EE6FD}" type="datetime1">
              <a:rPr lang="en-GB" noProof="0" smtClean="0"/>
              <a:t>20/11/2025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8729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csail.mit.edu/dsontag/courses/ml14/notes/Luxburg07_tutorial_spectral_clustering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Spectral_clustering" TargetMode="External"/><Relationship Id="rId4" Type="http://schemas.openxmlformats.org/officeDocument/2006/relationships/hyperlink" Target="https://www.mygreatlearning.com/blog/introduction-to-spectral-clustering/#difference-between-spectral-clustering-and-conventional-clustering-techniques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 dirty="0"/>
              <a:t>Spectral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b="1" dirty="0"/>
              <a:t>Presented by: Yosser Fhal 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What is Clustering?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GB" dirty="0"/>
              <a:t>Clustering means </a:t>
            </a:r>
            <a:r>
              <a:rPr lang="en-GB" b="1" dirty="0"/>
              <a:t>grouping similar data points.</a:t>
            </a:r>
          </a:p>
          <a:p>
            <a:r>
              <a:rPr lang="en-GB" dirty="0"/>
              <a:t>Traditional clustering (like </a:t>
            </a:r>
            <a:r>
              <a:rPr lang="en-GB" b="1" dirty="0"/>
              <a:t>K-Means</a:t>
            </a:r>
            <a:r>
              <a:rPr lang="en-GB" dirty="0"/>
              <a:t>) uses </a:t>
            </a:r>
            <a:r>
              <a:rPr lang="en-GB" b="1" dirty="0"/>
              <a:t>distance</a:t>
            </a:r>
            <a:r>
              <a:rPr lang="en-GB" dirty="0"/>
              <a:t> between points.</a:t>
            </a:r>
          </a:p>
          <a:p>
            <a:r>
              <a:rPr lang="en-GB" dirty="0"/>
              <a:t>But what if “closeness” isn’t just about distance; it’s about </a:t>
            </a:r>
            <a:r>
              <a:rPr lang="en-GB" b="1" dirty="0"/>
              <a:t>relationships</a:t>
            </a:r>
            <a:r>
              <a:rPr lang="en-GB" dirty="0"/>
              <a:t>?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In a social network, two people might not be directly connected, but they may still belong to the same friend group through shared connections!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That’s when </a:t>
            </a:r>
            <a:r>
              <a:rPr lang="en-GB" b="1" dirty="0"/>
              <a:t>Spectral Clustering</a:t>
            </a:r>
            <a:r>
              <a:rPr lang="en-GB" dirty="0"/>
              <a:t> helps.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8F9D1-ED53-2CBA-C3E5-84147585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5C41-EAD7-702E-A947-7EC0622B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5C68-68D5-0C10-D91D-C7983355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What is </a:t>
            </a:r>
            <a:r>
              <a:rPr lang="en-GB" u="sng" dirty="0"/>
              <a:t>Spectral</a:t>
            </a:r>
            <a:r>
              <a:rPr lang="en-GB" dirty="0"/>
              <a:t> </a:t>
            </a:r>
            <a:r>
              <a:rPr lang="en-GB" u="sng" dirty="0"/>
              <a:t>Clustering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46847-8817-DD83-FB04-3229E1D8D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GB" dirty="0"/>
              <a:t>Spectral clustering looks at how </a:t>
            </a:r>
            <a:r>
              <a:rPr lang="en-GB" b="1" dirty="0"/>
              <a:t>points are connected</a:t>
            </a:r>
            <a:r>
              <a:rPr lang="en-GB" dirty="0"/>
              <a:t> instead of just how far apart they are.</a:t>
            </a:r>
          </a:p>
          <a:p>
            <a:r>
              <a:rPr lang="en-GB" dirty="0"/>
              <a:t>It does this by: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GB" dirty="0"/>
              <a:t>Turning the data into a </a:t>
            </a:r>
            <a:r>
              <a:rPr lang="en-GB" b="1" dirty="0"/>
              <a:t>graph, </a:t>
            </a:r>
            <a:r>
              <a:rPr lang="en-GB" dirty="0"/>
              <a:t>points become </a:t>
            </a:r>
            <a:r>
              <a:rPr lang="en-GB" b="1" dirty="0"/>
              <a:t>nodes</a:t>
            </a:r>
            <a:r>
              <a:rPr lang="en-GB" dirty="0"/>
              <a:t>, and connections between them become </a:t>
            </a:r>
            <a:r>
              <a:rPr lang="en-GB" b="1" dirty="0"/>
              <a:t>edges</a:t>
            </a:r>
            <a:r>
              <a:rPr lang="en-GB" dirty="0"/>
              <a:t>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GB" dirty="0"/>
              <a:t>Studying that graph using </a:t>
            </a:r>
            <a:r>
              <a:rPr lang="en-GB" b="1" dirty="0"/>
              <a:t>math tools called eigenvalues and eigenvectors</a:t>
            </a:r>
            <a:r>
              <a:rPr lang="en-GB" dirty="0"/>
              <a:t>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GB" dirty="0"/>
              <a:t>Finding natural groups or “communities” within the graph.</a:t>
            </a:r>
          </a:p>
          <a:p>
            <a:r>
              <a:rPr lang="en-GB" dirty="0"/>
              <a:t>Think of it like finding communities of friends in a big social network!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6BDBA-9DB8-1A85-AF95-11CAD780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6031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3329-7397-146B-8DA2-5BDC8C7B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2C3E-7423-D30E-1497-43B02A6A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GB" dirty="0"/>
              <a:t>Why is Spectral Clustering powerful?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6215-E087-3AA8-2623-DC7FBA109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/>
          <a:p>
            <a:r>
              <a:rPr lang="en-GB" dirty="0"/>
              <a:t>Works with </a:t>
            </a:r>
            <a:r>
              <a:rPr lang="en-GB" b="1" dirty="0"/>
              <a:t>irregular</a:t>
            </a:r>
            <a:r>
              <a:rPr lang="en-GB" dirty="0"/>
              <a:t> or </a:t>
            </a:r>
            <a:r>
              <a:rPr lang="en-GB" b="1" dirty="0"/>
              <a:t>non-spherical</a:t>
            </a:r>
            <a:r>
              <a:rPr lang="en-GB" dirty="0"/>
              <a:t> </a:t>
            </a:r>
            <a:r>
              <a:rPr lang="en-GB" b="1" dirty="0"/>
              <a:t>shapes</a:t>
            </a:r>
            <a:r>
              <a:rPr lang="en-GB" dirty="0"/>
              <a:t>.</a:t>
            </a:r>
          </a:p>
          <a:p>
            <a:pPr rtl="0"/>
            <a:r>
              <a:rPr lang="en-GB" dirty="0"/>
              <a:t>Can find </a:t>
            </a:r>
            <a:r>
              <a:rPr lang="en-GB" b="1" dirty="0"/>
              <a:t>complex</a:t>
            </a:r>
            <a:r>
              <a:rPr lang="en-GB" dirty="0"/>
              <a:t>, </a:t>
            </a:r>
            <a:r>
              <a:rPr lang="en-GB" b="1" dirty="0"/>
              <a:t>non-linear</a:t>
            </a:r>
            <a:r>
              <a:rPr lang="en-GB" dirty="0"/>
              <a:t> </a:t>
            </a:r>
            <a:r>
              <a:rPr lang="en-GB" b="1" dirty="0"/>
              <a:t>patterns</a:t>
            </a:r>
            <a:r>
              <a:rPr lang="en-GB" dirty="0"/>
              <a:t>.</a:t>
            </a:r>
          </a:p>
          <a:p>
            <a:pPr rtl="0"/>
            <a:r>
              <a:rPr lang="en-GB" dirty="0"/>
              <a:t>Excellent for </a:t>
            </a:r>
            <a:r>
              <a:rPr lang="en-GB" b="1" dirty="0"/>
              <a:t>graph-based data</a:t>
            </a:r>
            <a:r>
              <a:rPr lang="en-GB" dirty="0"/>
              <a:t> (like social networks or web pages)</a:t>
            </a:r>
          </a:p>
          <a:p>
            <a:pPr rtl="0"/>
            <a:r>
              <a:rPr lang="en-GB" dirty="0"/>
              <a:t>Doesn’t depend only on geometric distance. </a:t>
            </a:r>
          </a:p>
        </p:txBody>
      </p:sp>
      <p:pic>
        <p:nvPicPr>
          <p:cNvPr id="11" name="Picture 10" descr="A circular design with dots in center&#10;&#10;AI-generated content may be incorrect.">
            <a:extLst>
              <a:ext uri="{FF2B5EF4-FFF2-40B4-BE49-F238E27FC236}">
                <a16:creationId xmlns:a16="http://schemas.microsoft.com/office/drawing/2014/main" id="{6E223028-B77E-1A75-7491-2E49FD61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223" y="2280212"/>
            <a:ext cx="5653970" cy="1879945"/>
          </a:xfrm>
          <a:prstGeom prst="rect">
            <a:avLst/>
          </a:prstGeo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FB0E5-14B0-3CA1-ECDE-47868726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2" cy="222436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49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226F-C733-3987-E3FC-AE479101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F560E-05A9-F5C8-3C87-C7A878FB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GB" dirty="0"/>
              <a:t>Representing Data as a Graph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FC98F-C62B-320E-57B2-51281C0C9A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295400" y="1981199"/>
                <a:ext cx="4572000" cy="3810001"/>
              </a:xfrm>
            </p:spPr>
            <p:txBody>
              <a:bodyPr rtlCol="0">
                <a:normAutofit/>
              </a:bodyPr>
              <a:lstStyle/>
              <a:p>
                <a:pPr>
                  <a:buNone/>
                </a:pPr>
                <a:r>
                  <a:rPr lang="en-GB" dirty="0"/>
                  <a:t>We convert the dataset into a </a:t>
                </a:r>
                <a:r>
                  <a:rPr lang="en-GB" b="1" dirty="0"/>
                  <a:t>graph</a:t>
                </a:r>
                <a:r>
                  <a:rPr lang="en-GB" dirty="0"/>
                  <a:t> 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GB" dirty="0"/>
                  <a:t>         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GB" dirty="0"/>
              </a:p>
              <a:p>
                <a:pPr>
                  <a:buNone/>
                </a:pPr>
                <a:r>
                  <a:rPr lang="en-GB" dirty="0"/>
                  <a:t>Where:</a:t>
                </a:r>
                <a:endParaRPr lang="ar-AE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b="1" dirty="0"/>
                  <a:t>Vertices (V)</a:t>
                </a:r>
                <a:r>
                  <a:rPr lang="en-GB" dirty="0"/>
                  <a:t> → Data points.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b="1" dirty="0"/>
                  <a:t>Edges (E)</a:t>
                </a:r>
                <a:r>
                  <a:rPr lang="en-GB" dirty="0"/>
                  <a:t> → Connections or similarity between points.</a:t>
                </a:r>
              </a:p>
              <a:p>
                <a:pPr marL="0" indent="0">
                  <a:buNone/>
                </a:pPr>
                <a:r>
                  <a:rPr lang="en-GB" dirty="0"/>
                  <a:t>Then, we use the </a:t>
                </a:r>
                <a:r>
                  <a:rPr lang="en-GB" b="1" dirty="0"/>
                  <a:t>eigenvectors of a special matrix (the Laplacian)</a:t>
                </a:r>
                <a:r>
                  <a:rPr lang="en-GB" dirty="0"/>
                  <a:t> to separate the graph into groups (clusters).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FC98F-C62B-320E-57B2-51281C0C9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295400" y="1981199"/>
                <a:ext cx="4572000" cy="3810001"/>
              </a:xfrm>
              <a:blipFill>
                <a:blip r:embed="rId3"/>
                <a:stretch>
                  <a:fillRect l="-1467" t="-1440" r="-1733" b="-1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6" name="Picture 2" descr="G = (V, E)">
            <a:extLst>
              <a:ext uri="{FF2B5EF4-FFF2-40B4-BE49-F238E27FC236}">
                <a16:creationId xmlns:a16="http://schemas.microsoft.com/office/drawing/2014/main" id="{C3EFB13E-94E2-35B9-E635-4A0002644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7" r="4373"/>
          <a:stretch>
            <a:fillRect/>
          </a:stretch>
        </p:blipFill>
        <p:spPr bwMode="auto">
          <a:xfrm>
            <a:off x="6552752" y="1981199"/>
            <a:ext cx="4572000" cy="381000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A76F4-7B68-12C5-87A3-6F155E4C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2" cy="222436"/>
          </a:xfrm>
        </p:spPr>
        <p:txBody>
          <a:bodyPr anchor="ctr">
            <a:normAutofit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2D2E2D">
                  <a:lumMod val="90000"/>
                  <a:lumOff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2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FF55-8E55-8AF6-174F-19FAC2CB9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9E83-9CF9-6953-8BE4-A7F18FF9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GB" dirty="0"/>
              <a:t>Building the Similarity Graph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B407E-63D1-787B-D0E8-B21D17412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5318760" cy="3810001"/>
          </a:xfrm>
        </p:spPr>
        <p:txBody>
          <a:bodyPr rtlCol="0">
            <a:normAutofit/>
          </a:bodyPr>
          <a:lstStyle/>
          <a:p>
            <a:pPr>
              <a:buNone/>
            </a:pPr>
            <a:r>
              <a:rPr lang="en-GB" dirty="0"/>
              <a:t>There are three main ways to connect nodes:</a:t>
            </a:r>
          </a:p>
          <a:p>
            <a:pPr>
              <a:buFont typeface="+mj-lt"/>
              <a:buAutoNum type="arabicPeriod"/>
            </a:pPr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ε-</a:t>
            </a:r>
            <a:r>
              <a:rPr lang="en-GB" b="1" dirty="0" err="1"/>
              <a:t>neighborhood</a:t>
            </a:r>
            <a:r>
              <a:rPr lang="en-GB" b="1" dirty="0"/>
              <a:t> graph</a:t>
            </a:r>
            <a:endParaRPr lang="en-GB" dirty="0"/>
          </a:p>
          <a:p>
            <a:pPr marL="742950" lvl="1" indent="-285750"/>
            <a:r>
              <a:rPr lang="en-GB" sz="2000" dirty="0"/>
              <a:t>Connect points if distance &lt; ε</a:t>
            </a:r>
          </a:p>
          <a:p>
            <a:pPr lvl="1" indent="0">
              <a:buNone/>
            </a:pPr>
            <a:r>
              <a:rPr lang="en-GB" sz="2000" dirty="0">
                <a:sym typeface="Wingdings" panose="05000000000000000000" pitchFamily="2" charset="2"/>
              </a:rPr>
              <a:t> Simple, but s</a:t>
            </a:r>
            <a:r>
              <a:rPr lang="en-GB" sz="2000" dirty="0"/>
              <a:t>ensitive to ε value</a:t>
            </a:r>
          </a:p>
        </p:txBody>
      </p:sp>
      <p:pic>
        <p:nvPicPr>
          <p:cNvPr id="6152" name="Picture 8" descr="The data is grouped into eight clusters represented by different colors.">
            <a:extLst>
              <a:ext uri="{FF2B5EF4-FFF2-40B4-BE49-F238E27FC236}">
                <a16:creationId xmlns:a16="http://schemas.microsoft.com/office/drawing/2014/main" id="{65B13101-D08B-44D6-623F-0F108CC355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22"/>
          <a:stretch>
            <a:fillRect/>
          </a:stretch>
        </p:blipFill>
        <p:spPr bwMode="auto">
          <a:xfrm>
            <a:off x="6324600" y="2753942"/>
            <a:ext cx="4572000" cy="226451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189A8-316E-8FD3-A9F0-9CE321EA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2" cy="222436"/>
          </a:xfrm>
        </p:spPr>
        <p:txBody>
          <a:bodyPr anchor="ctr">
            <a:normAutofit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2D2E2D">
                  <a:lumMod val="90000"/>
                  <a:lumOff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13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DE62-1326-DAAC-5D07-4BB612E6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A4C6-358E-B26F-C676-8C71FFCA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GB" dirty="0"/>
              <a:t>Representing Data as a Graph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7795E-98AF-6988-16C4-A060D3445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endParaRPr lang="en-GB" b="1" dirty="0"/>
          </a:p>
          <a:p>
            <a:pPr marL="457200" indent="-457200">
              <a:buFont typeface="+mj-lt"/>
              <a:buAutoNum type="arabicPeriod" startAt="2"/>
            </a:pPr>
            <a:endParaRPr lang="en-GB" b="1" dirty="0"/>
          </a:p>
          <a:p>
            <a:pPr marL="457200" indent="-457200">
              <a:buFont typeface="+mj-lt"/>
              <a:buAutoNum type="arabicPeriod" startAt="2"/>
            </a:pPr>
            <a:r>
              <a:rPr lang="en-GB" b="1" dirty="0"/>
              <a:t>k-nearest neighbours (k-NN) graph</a:t>
            </a:r>
            <a:endParaRPr lang="en-GB" dirty="0"/>
          </a:p>
          <a:p>
            <a:pPr marL="742950" lvl="1" indent="-285750"/>
            <a:r>
              <a:rPr lang="en-GB" sz="2000" dirty="0"/>
              <a:t>Each point connects to its </a:t>
            </a:r>
            <a:r>
              <a:rPr lang="en-GB" sz="2000" i="1" dirty="0"/>
              <a:t>k</a:t>
            </a:r>
            <a:r>
              <a:rPr lang="en-GB" sz="2000" dirty="0"/>
              <a:t> closest neighbours.</a:t>
            </a:r>
          </a:p>
          <a:p>
            <a:pPr lvl="1" indent="0">
              <a:buNone/>
            </a:pPr>
            <a:r>
              <a:rPr lang="en-GB" sz="2000" dirty="0">
                <a:sym typeface="Wingdings" panose="05000000000000000000" pitchFamily="2" charset="2"/>
              </a:rPr>
              <a:t> </a:t>
            </a:r>
            <a:r>
              <a:rPr lang="en-GB" sz="2000" dirty="0"/>
              <a:t>Captures local structure</a:t>
            </a:r>
          </a:p>
        </p:txBody>
      </p:sp>
      <p:pic>
        <p:nvPicPr>
          <p:cNvPr id="7170" name="Picture 2" descr=" mutual k-nearest neighbor graph">
            <a:extLst>
              <a:ext uri="{FF2B5EF4-FFF2-40B4-BE49-F238E27FC236}">
                <a16:creationId xmlns:a16="http://schemas.microsoft.com/office/drawing/2014/main" id="{E0BF269E-7F3B-1599-AA42-76305E930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91" r="-1"/>
          <a:stretch>
            <a:fillRect/>
          </a:stretch>
        </p:blipFill>
        <p:spPr bwMode="auto">
          <a:xfrm>
            <a:off x="6324600" y="2525767"/>
            <a:ext cx="4572000" cy="272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042B9-7647-CEDA-AC22-79A6FE86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2" cy="222436"/>
          </a:xfrm>
        </p:spPr>
        <p:txBody>
          <a:bodyPr anchor="ctr">
            <a:normAutofit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2D2E2D">
                  <a:lumMod val="90000"/>
                  <a:lumOff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75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EBD7-D9DC-D3B9-0D62-70F96CCF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0B91-82AE-262B-275B-802DD18F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GB" dirty="0"/>
              <a:t>Representing Data as a Graph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4DF50-816C-78E7-9458-ABE215FC653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295400" y="1981199"/>
                <a:ext cx="4572000" cy="3810001"/>
              </a:xfrm>
            </p:spPr>
            <p:txBody>
              <a:bodyPr rtlCol="0">
                <a:norm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endParaRPr lang="en-GB" b="1" dirty="0"/>
              </a:p>
              <a:p>
                <a:pPr marL="457200" indent="-457200">
                  <a:buFont typeface="+mj-lt"/>
                  <a:buAutoNum type="arabicPeriod" startAt="3"/>
                </a:pPr>
                <a:endParaRPr lang="en-GB" b="1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GB" b="1" dirty="0"/>
                  <a:t>Fully-connected graph</a:t>
                </a:r>
                <a:endParaRPr lang="en-GB" dirty="0"/>
              </a:p>
              <a:p>
                <a:r>
                  <a:rPr lang="en-GB" dirty="0"/>
                  <a:t>Every point connects to every other, with weight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sepChr m:val=",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∣∣</m:t>
                                  </m:r>
                                  <m:sSub>
                                    <m:sSub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sSup>
                                    <m:sSup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</m:e>
                                    <m:sup>
                                      <m:r>
                                        <a:rPr lang="ar-AE" sz="20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ar-AE" sz="20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2000" dirty="0"/>
              </a:p>
              <a:p>
                <a:pPr marL="274320" lvl="1" indent="0">
                  <a:buNone/>
                </a:pPr>
                <a:r>
                  <a:rPr lang="en-GB" sz="2000" dirty="0">
                    <a:sym typeface="Wingdings" panose="05000000000000000000" pitchFamily="2" charset="2"/>
                  </a:rPr>
                  <a:t> </a:t>
                </a:r>
                <a:r>
                  <a:rPr lang="en-GB" sz="2000" dirty="0"/>
                  <a:t>Captures global relationships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4DF50-816C-78E7-9458-ABE215FC6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295400" y="1981199"/>
                <a:ext cx="4572000" cy="3810001"/>
              </a:xfrm>
              <a:blipFill>
                <a:blip r:embed="rId3"/>
                <a:stretch>
                  <a:fillRect l="-1200" r="-1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 mutual k-nearest neighbor graph">
            <a:extLst>
              <a:ext uri="{FF2B5EF4-FFF2-40B4-BE49-F238E27FC236}">
                <a16:creationId xmlns:a16="http://schemas.microsoft.com/office/drawing/2014/main" id="{2FD1B6DA-FB52-62E4-C520-EE89192BF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602"/>
          <a:stretch>
            <a:fillRect/>
          </a:stretch>
        </p:blipFill>
        <p:spPr bwMode="auto">
          <a:xfrm>
            <a:off x="6324600" y="2607502"/>
            <a:ext cx="4572000" cy="255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F4689-6AF7-6282-7D01-EBEF646B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2" cy="222436"/>
          </a:xfrm>
        </p:spPr>
        <p:txBody>
          <a:bodyPr anchor="ctr">
            <a:normAutofit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2D2E2D">
                  <a:lumMod val="90000"/>
                  <a:lumOff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38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072C-0F3C-DBE0-6E2C-F3ECE934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E202-F000-F67F-17B1-6BF46189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Matrices in Spectral Clustering (1/3)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44C14-4D23-03D0-8651-F3CFAA7DA2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r>
                  <a:rPr lang="en-GB" dirty="0"/>
                  <a:t>Once we build the graph, we represent it in </a:t>
                </a:r>
                <a:r>
                  <a:rPr lang="en-GB" b="1" dirty="0"/>
                  <a:t>matrix form</a:t>
                </a:r>
                <a:r>
                  <a:rPr lang="en-GB" dirty="0"/>
                  <a:t>.</a:t>
                </a:r>
                <a:endParaRPr lang="en-GB" b="1" dirty="0"/>
              </a:p>
              <a:p>
                <a:pPr marL="0" indent="0">
                  <a:buNone/>
                </a:pPr>
                <a:r>
                  <a:rPr lang="en-GB" b="1" dirty="0"/>
                  <a:t>Adjacency (Affinity) Matrix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GB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i="1"/>
                                  <m:t>nodes</m:t>
                                </m:r>
                                <m:r>
                                  <m:rPr>
                                    <m:nor/>
                                  </m:rPr>
                                  <a:rPr lang="en-GB" i="1"/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m:rPr>
                                    <m:nor/>
                                  </m:rPr>
                                  <a:rPr lang="en-GB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i="1"/>
                                  <m:t>are</m:t>
                                </m:r>
                                <m:r>
                                  <m:rPr>
                                    <m:nor/>
                                  </m:rPr>
                                  <a:rPr lang="en-GB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i="1"/>
                                  <m:t>connected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Clr>
                    <a:schemeClr val="bg2">
                      <a:lumMod val="10000"/>
                    </a:schemeClr>
                  </a:buClr>
                  <a:buFont typeface="Wingdings" panose="05000000000000000000" pitchFamily="2" charset="2"/>
                  <a:buChar char="à"/>
                </a:pPr>
                <a:r>
                  <a:rPr lang="en-GB" dirty="0"/>
                  <a:t> Represents </a:t>
                </a:r>
                <a:r>
                  <a:rPr lang="en-GB" b="1" dirty="0"/>
                  <a:t>connection strength</a:t>
                </a:r>
              </a:p>
              <a:p>
                <a:pPr marL="0" indent="0">
                  <a:buNone/>
                </a:pPr>
                <a:r>
                  <a:rPr lang="en-GB" dirty="0"/>
                  <a:t> between nodes.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44C14-4D23-03D0-8651-F3CFAA7DA2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8" t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5D63E-2E68-E7D9-DA49-6C54654A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CA677-DE23-0A65-1AC7-74DDF609D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736" y="503853"/>
            <a:ext cx="1586016" cy="5175810"/>
          </a:xfrm>
          <a:prstGeom prst="rect">
            <a:avLst/>
          </a:prstGeom>
        </p:spPr>
      </p:pic>
      <p:pic>
        <p:nvPicPr>
          <p:cNvPr id="8198" name="Picture 6" descr="Adjacency and Affinity Matrix">
            <a:extLst>
              <a:ext uri="{FF2B5EF4-FFF2-40B4-BE49-F238E27FC236}">
                <a16:creationId xmlns:a16="http://schemas.microsoft.com/office/drawing/2014/main" id="{BBE4F44D-3F66-800E-F78E-7D714BAE7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25" t="9500" r="5938" b="12630"/>
          <a:stretch>
            <a:fillRect/>
          </a:stretch>
        </p:blipFill>
        <p:spPr bwMode="auto">
          <a:xfrm>
            <a:off x="5882908" y="3563413"/>
            <a:ext cx="3281680" cy="245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05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A644-0101-FE87-97ED-E893486E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99FB-F4E0-D9F2-E542-B49218363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Matrices in Spectral Clustering (2/3)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96109-41C2-D5B6-73C3-2753F9F127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Degree Matrix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Diagonal matrix with: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à"/>
                </a:pPr>
                <a:r>
                  <a:rPr lang="en-GB" dirty="0"/>
                  <a:t>Represents the</a:t>
                </a:r>
                <a:r>
                  <a:rPr lang="en-GB" b="1" dirty="0"/>
                  <a:t> strength of the connections </a:t>
                </a:r>
                <a:r>
                  <a:rPr lang="en-GB" dirty="0"/>
                  <a:t>of</a:t>
                </a:r>
                <a:r>
                  <a:rPr lang="en-GB" b="1" dirty="0"/>
                  <a:t> </a:t>
                </a:r>
                <a:r>
                  <a:rPr lang="en-GB" dirty="0"/>
                  <a:t>each node 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96109-41C2-D5B6-73C3-2753F9F12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8" t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0C246-AA4C-788D-A566-93FBD670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</a:t>
            </a:r>
          </a:p>
        </p:txBody>
      </p:sp>
      <p:pic>
        <p:nvPicPr>
          <p:cNvPr id="9218" name="Picture 2" descr="Degree Matrix">
            <a:extLst>
              <a:ext uri="{FF2B5EF4-FFF2-40B4-BE49-F238E27FC236}">
                <a16:creationId xmlns:a16="http://schemas.microsoft.com/office/drawing/2014/main" id="{13E61ADB-E9E2-7974-49BC-54CEDC133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06" t="9660" r="3802" b="17993"/>
          <a:stretch>
            <a:fillRect/>
          </a:stretch>
        </p:blipFill>
        <p:spPr bwMode="auto">
          <a:xfrm>
            <a:off x="4460943" y="3637280"/>
            <a:ext cx="3270113" cy="248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4E78F4-EB86-9096-3607-E94487A2D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736" y="503853"/>
            <a:ext cx="1586016" cy="517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0A03-5379-F5B0-3457-C44A9D3F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95F1-D148-7A12-79DE-376062C2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Matrices in Spectral Clustering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E250F-F923-F249-AF26-64AA56172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Laplacian Matrix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Core of spectral clustering: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/>
                  <a:t>It measures how much each </a:t>
                </a:r>
                <a:r>
                  <a:rPr lang="en-GB" b="1" dirty="0"/>
                  <a:t>node differs from its neighbours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E250F-F923-F249-AF26-64AA56172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8" t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95E04-27F4-3425-E68F-AEAEF9FB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8B860-A2B6-CB34-6E1A-459C89700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736" y="503853"/>
            <a:ext cx="1586016" cy="5175810"/>
          </a:xfrm>
          <a:prstGeom prst="rect">
            <a:avLst/>
          </a:prstGeom>
        </p:spPr>
      </p:pic>
      <p:pic>
        <p:nvPicPr>
          <p:cNvPr id="10242" name="Picture 2" descr="Laplacian Matrix">
            <a:extLst>
              <a:ext uri="{FF2B5EF4-FFF2-40B4-BE49-F238E27FC236}">
                <a16:creationId xmlns:a16="http://schemas.microsoft.com/office/drawing/2014/main" id="{DA3D3416-F733-9E0F-E117-A82E436B37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96" t="18148" r="2187" b="12815"/>
          <a:stretch>
            <a:fillRect/>
          </a:stretch>
        </p:blipFill>
        <p:spPr bwMode="auto">
          <a:xfrm>
            <a:off x="4454400" y="3619600"/>
            <a:ext cx="3283200" cy="242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20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DF46-F370-7691-EB09-83756137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D12D-1886-1E5D-E824-4004AA0C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Normalized Laplacians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CD3E4-FB46-A7CC-0FC9-5534F2142C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1981200"/>
                <a:ext cx="9601200" cy="4162925"/>
              </a:xfrm>
            </p:spPr>
            <p:txBody>
              <a:bodyPr rtlCol="0"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To handle graphs with uneven connections, we “normalize”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Two versions: </a:t>
                </a:r>
              </a:p>
              <a:p>
                <a:pPr lvl="1"/>
                <a:r>
                  <a:rPr lang="en-GB" b="1" dirty="0"/>
                  <a:t>Symmetric: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𝑠𝑦𝑚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1"/>
                <a:r>
                  <a:rPr lang="en-GB" b="1" dirty="0"/>
                  <a:t>Random Walk: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𝑟𝑤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b="1" dirty="0"/>
                  <a:t>Why normalize? </a:t>
                </a:r>
                <a:r>
                  <a:rPr lang="en-GB" sz="1800" dirty="0"/>
                  <a:t>Because some nodes may have many more connections than others; normalization balances their importance.</a:t>
                </a:r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𝐴𝑑𝑗𝑎𝑐𝑒𝑛𝑐𝑦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𝐼𝑑𝑒𝑛𝑡𝑖𝑡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𝐷𝑖𝑎𝑔𝑜𝑛𝑎𝑙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                                  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𝑈𝑛𝑛𝑜𝑟𝑚𝑎𝑙𝑖𝑧𝑒𝑑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𝐿𝑎𝑝𝑙𝑎𝑐𝑖𝑎𝑛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800" dirty="0"/>
              </a:p>
              <a:p>
                <a:pPr marL="0" indent="0" algn="ctr">
                  <a:buNone/>
                </a:pPr>
                <a:endParaRPr lang="en-GB" sz="1800" dirty="0"/>
              </a:p>
              <a:p>
                <a:pPr marL="0" indent="0" algn="ctr">
                  <a:buNone/>
                </a:pPr>
                <a:endParaRPr lang="en-GB" sz="1800" b="0" dirty="0"/>
              </a:p>
              <a:p>
                <a:pPr marL="0" indent="0">
                  <a:buNone/>
                </a:pPr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CD3E4-FB46-A7CC-0FC9-5534F2142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1981200"/>
                <a:ext cx="9601200" cy="4162925"/>
              </a:xfrm>
              <a:blipFill>
                <a:blip r:embed="rId3"/>
                <a:stretch>
                  <a:fillRect l="-698" t="-13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0BA13-B1F5-8FA2-FD87-86825015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961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CBD1D-2BD0-E160-2BAF-BFED2939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D126-BAAC-435C-1F8D-058E1F39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Eigenvalues and Eigenvectors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D9C0D3-6AC2-2CE0-6A5C-BB6CD2DF2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For a matrix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GB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→ </a:t>
                </a:r>
                <a:r>
                  <a:rPr lang="en-GB" b="1" dirty="0"/>
                  <a:t>Eigenvector </a:t>
                </a:r>
                <a:r>
                  <a:rPr lang="en-GB" dirty="0"/>
                  <a:t>(direction)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→ </a:t>
                </a:r>
                <a:r>
                  <a:rPr lang="en-GB" b="1" dirty="0"/>
                  <a:t>Eigenvalue </a:t>
                </a:r>
                <a:r>
                  <a:rPr lang="en-GB" dirty="0"/>
                  <a:t>(stretch factor)</a:t>
                </a:r>
              </a:p>
              <a:p>
                <a:endParaRPr lang="en-GB" b="1" dirty="0"/>
              </a:p>
              <a:p>
                <a:pPr marL="0" indent="0">
                  <a:buNone/>
                </a:pP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/>
                  <a:t>You can think of </a:t>
                </a:r>
                <a:r>
                  <a:rPr lang="en-GB" b="1" dirty="0"/>
                  <a:t>eigenvectors</a:t>
                </a:r>
                <a:r>
                  <a:rPr lang="en-GB" dirty="0"/>
                  <a:t> as special directions that show the main structure of data.</a:t>
                </a:r>
                <a:br>
                  <a:rPr lang="en-GB" dirty="0"/>
                </a:b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b="1" dirty="0"/>
                  <a:t>Eigenvalues</a:t>
                </a:r>
                <a:r>
                  <a:rPr lang="en-GB" dirty="0"/>
                  <a:t> tell how important each direction is.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D9C0D3-6AC2-2CE0-6A5C-BB6CD2DF2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8" t="-1440" r="-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3791A-54ED-76FB-F036-68DBD115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7001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17354-34FB-B352-D0E3-3E3A6E6B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9578-8F31-8BB5-BDAC-06FC50FB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Eigenvalues and Eigenvectors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E1874-C98C-C048-DF93-DFF27B219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>
              <a:buNone/>
            </a:pPr>
            <a:r>
              <a:rPr lang="en-GB" b="1" dirty="0"/>
              <a:t>In spectral clustering:</a:t>
            </a:r>
          </a:p>
          <a:p>
            <a:r>
              <a:rPr lang="en-GB" dirty="0"/>
              <a:t>Small eigenvalues show the smoothest ways to divide the graph.</a:t>
            </a:r>
          </a:p>
          <a:p>
            <a:r>
              <a:rPr lang="en-GB" dirty="0"/>
              <a:t>The </a:t>
            </a:r>
            <a:r>
              <a:rPr lang="en-GB" b="1" dirty="0"/>
              <a:t>second smallest eigenvalue</a:t>
            </a:r>
            <a:r>
              <a:rPr lang="en-GB" dirty="0"/>
              <a:t> (called the </a:t>
            </a:r>
            <a:r>
              <a:rPr lang="en-GB" i="1" u="sng" dirty="0"/>
              <a:t>Fiedler value</a:t>
            </a:r>
            <a:r>
              <a:rPr lang="en-GB" dirty="0"/>
              <a:t>) helps find the best split.</a:t>
            </a:r>
          </a:p>
          <a:p>
            <a:r>
              <a:rPr lang="en-GB" dirty="0"/>
              <a:t>The </a:t>
            </a:r>
            <a:r>
              <a:rPr lang="en-GB" b="1" dirty="0"/>
              <a:t>Fiedler vector</a:t>
            </a:r>
            <a:r>
              <a:rPr lang="en-GB" dirty="0"/>
              <a:t> tells how to divide the data into two groups.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If you see a big gap between eigenvalues, it usually means that clear clusters exist.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C8B32-EC20-CCC3-71B4-5FBA8764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5718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447F8-700D-3A90-E97C-D6BF13FB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2092-0E5E-2D41-079E-91F3EBF3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Spectral Clustering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971F1-C73F-6299-4DC9-21E6275F3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05560" y="1981201"/>
                <a:ext cx="9601200" cy="3809999"/>
              </a:xfrm>
            </p:spPr>
            <p:txBody>
              <a:bodyPr rtlCol="0">
                <a:normAutofit/>
              </a:bodyPr>
              <a:lstStyle/>
              <a:p>
                <a:r>
                  <a:rPr lang="en-GB" b="1" dirty="0"/>
                  <a:t>Unnormalized Algorithm</a:t>
                </a:r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Form the </a:t>
                </a:r>
                <a:r>
                  <a:rPr lang="en-GB" b="1" dirty="0"/>
                  <a:t>similarity matrix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GB" b="1" dirty="0"/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Compute </a:t>
                </a:r>
                <a:r>
                  <a:rPr lang="en-GB" b="1" dirty="0"/>
                  <a:t>degree matrix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GB" b="1" dirty="0"/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Compute the </a:t>
                </a:r>
                <a:r>
                  <a:rPr lang="en-GB" b="1" dirty="0"/>
                  <a:t>Laplacian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GB" dirty="0"/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Find the first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eigenvectors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GB" b="1" dirty="0"/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Combine them into a new matrix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Treat each row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dirty="0"/>
                  <a:t> as a new data point</a:t>
                </a:r>
                <a:endParaRPr lang="ar-AE" dirty="0"/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Apply </a:t>
                </a:r>
                <a:r>
                  <a:rPr lang="en-GB" b="1" dirty="0"/>
                  <a:t>K-Means</a:t>
                </a:r>
                <a:r>
                  <a:rPr lang="en-GB" dirty="0"/>
                  <a:t> on rows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GB" dirty="0"/>
              </a:p>
              <a:p>
                <a:pPr marL="685800" lvl="1" indent="-457200">
                  <a:buFont typeface="+mj-lt"/>
                  <a:buAutoNum type="arabicPeriod"/>
                </a:pPr>
                <a:r>
                  <a:rPr lang="en-GB" dirty="0"/>
                  <a:t>Get your </a:t>
                </a:r>
                <a:r>
                  <a:rPr lang="en-GB" b="1" dirty="0"/>
                  <a:t>final clusters 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971F1-C73F-6299-4DC9-21E6275F3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05560" y="1981201"/>
                <a:ext cx="9601200" cy="3809999"/>
              </a:xfrm>
              <a:blipFill>
                <a:blip r:embed="rId3"/>
                <a:stretch>
                  <a:fillRect l="-571" t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1489C-5653-1786-26C8-B91A8640C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7114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C9517-986D-D61E-CB28-95D8913A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93170-BEC7-1995-20AF-4FE2BDE4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Algorithm Variants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FFB42-C186-3626-B2DA-6887D3927B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r>
                  <a:rPr lang="en-GB" dirty="0"/>
                  <a:t>There are 3 main versions: all use the same idea, but differ in </a:t>
                </a:r>
                <a:r>
                  <a:rPr lang="en-GB" b="1" dirty="0"/>
                  <a:t>which Laplacian</a:t>
                </a:r>
                <a:r>
                  <a:rPr lang="en-GB" dirty="0"/>
                  <a:t> they use: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b="1" dirty="0"/>
                  <a:t>Unnormalized (Simple):</a:t>
                </a:r>
                <a:r>
                  <a:rPr lang="en-GB" dirty="0"/>
                  <a:t> </a:t>
                </a: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dirty="0"/>
                  <a:t>→ Works well for small, balanced graphs.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GB" b="1" dirty="0"/>
                  <a:t>Shi &amp; Malik (2000) - Normalized Cut:</a:t>
                </a:r>
                <a:br>
                  <a:rPr lang="en-GB" dirty="0"/>
                </a:br>
                <a:r>
                  <a:rPr lang="en-GB" dirty="0"/>
                  <a:t>Solve: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𝐿𝑢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𝐷𝑢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→ Helps balance cluster sizes, avoids tiny groups.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FFB42-C186-3626-B2DA-6887D3927B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8" t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ABF37-6D97-DC54-6723-88373844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9909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EA765-3DB5-D867-FA80-ECF08F0A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6EA7-A798-B709-6C7A-AEA465FA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Algorithm Variants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B71E0-4FD2-4BC0-A036-11E68AB51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1981201"/>
                <a:ext cx="9601200" cy="4308478"/>
              </a:xfrm>
            </p:spPr>
            <p:txBody>
              <a:bodyPr rtlCol="0">
                <a:norm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GB" b="1" dirty="0"/>
                  <a:t>Ng, Jordan &amp; Weiss (2002) - Row Normalization:</a:t>
                </a:r>
                <a:br>
                  <a:rPr lang="en-GB" dirty="0"/>
                </a:br>
                <a:r>
                  <a:rPr lang="en-GB" dirty="0"/>
                  <a:t>After computing eigenvectors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grow m:val="on"/>
                                  <m:sup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ar-AE" dirty="0"/>
                  <a:t>→ </a:t>
                </a:r>
                <a:r>
                  <a:rPr lang="en-GB" dirty="0"/>
                  <a:t>Normalizes each row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dirty="0"/>
                  <a:t> before K-Means for more stable clusters.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𝑚𝑎𝑡𝑟𝑖𝑥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𝑒𝑖𝑔𝑒𝑛𝑣𝑒𝑐𝑡𝑜𝑟𝑠</m:t>
                    </m:r>
                  </m:oMath>
                </a14:m>
                <a:r>
                  <a:rPr lang="en-GB" dirty="0"/>
                  <a:t>            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𝑐𝑜𝑙𝑢𝑚𝑛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                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igenvectors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/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clusters</m:t>
                    </m:r>
                    <m:r>
                      <m:rPr>
                        <m:nor/>
                      </m:rPr>
                      <a:rPr lang="en-GB" dirty="0"/>
                      <m:t>           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B71E0-4FD2-4BC0-A036-11E68AB51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1981201"/>
                <a:ext cx="9601200" cy="4308478"/>
              </a:xfrm>
              <a:blipFill>
                <a:blip r:embed="rId3"/>
                <a:stretch>
                  <a:fillRect l="-762" t="-1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00836-3F10-A275-0F83-E463294C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201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4093F-E863-5B64-9D6D-2EC59544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D26D-DB90-295D-8F7D-243519D5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Graph Cuts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D3F10-9105-DE8E-7DB7-6FD52CCC07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1981201"/>
                <a:ext cx="9601200" cy="3910313"/>
              </a:xfrm>
            </p:spPr>
            <p:txBody>
              <a:bodyPr rtlCol="0"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Goal: Make </a:t>
                </a:r>
                <a:r>
                  <a:rPr lang="en-GB" b="1" dirty="0"/>
                  <a:t>strong connections inside clusters</a:t>
                </a:r>
                <a:r>
                  <a:rPr lang="en-GB" dirty="0"/>
                  <a:t> and </a:t>
                </a:r>
                <a:r>
                  <a:rPr lang="en-GB" b="1" dirty="0"/>
                  <a:t>weak connections between clusters.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b="1" dirty="0"/>
                  <a:t>Cut Between Two Sets A and B: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/>
                        <m:t>cut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ar-AE" dirty="0"/>
                  <a:t>= </a:t>
                </a:r>
                <a:r>
                  <a:rPr lang="en-GB" dirty="0"/>
                  <a:t>total edge weight connecting A and B.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GB" b="1" dirty="0"/>
                  <a:t> Normalized Cut (Shi &amp; Malik):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/>
                        <m:t>Ncut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i="1"/>
                            <m:t>cut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m:rPr>
                              <m:nor/>
                            </m:rPr>
                            <a:rPr lang="en-GB" i="1"/>
                            <m:t>vol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i="1"/>
                            <m:t>cut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m:rPr>
                              <m:nor/>
                            </m:rPr>
                            <a:rPr lang="en-GB" i="1"/>
                            <m:t>vol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0"/>
                      <m:t>vol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>
                  <a:buFont typeface="Wingdings" panose="05000000000000000000" pitchFamily="2" charset="2"/>
                  <a:buChar char="à"/>
                </a:pPr>
                <a:r>
                  <a:rPr lang="en-GB" sz="2100" dirty="0"/>
                  <a:t>Spectral clustering approximates this </a:t>
                </a:r>
                <a:r>
                  <a:rPr lang="en-GB" sz="2100" b="1" dirty="0"/>
                  <a:t>cut minimization</a:t>
                </a:r>
                <a:r>
                  <a:rPr lang="en-GB" sz="2100" dirty="0"/>
                  <a:t> problem using </a:t>
                </a:r>
                <a:r>
                  <a:rPr lang="en-GB" sz="2100" b="1" dirty="0"/>
                  <a:t>eigenvectors</a:t>
                </a:r>
                <a:r>
                  <a:rPr lang="en-GB" sz="2100" dirty="0"/>
                  <a:t>, which is much more efficient. In simple terms </a:t>
                </a:r>
                <a:r>
                  <a:rPr lang="en-GB" dirty="0"/>
                  <a:t>it “cuts” the graph where connections are weakest.</a:t>
                </a:r>
                <a:endParaRPr lang="ar-AE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D3F10-9105-DE8E-7DB7-6FD52CCC07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1981201"/>
                <a:ext cx="9601200" cy="3910313"/>
              </a:xfrm>
              <a:blipFill>
                <a:blip r:embed="rId3"/>
                <a:stretch>
                  <a:fillRect l="-508" t="-84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BCF48-0817-2882-B8F5-EF676141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952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5C8B-6F53-8452-3C7A-79B2E3D3F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194CA-A242-F533-4370-3499793E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The Graph Cutting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7DED2-076C-B093-B6A6-0E4915F3F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81201"/>
            <a:ext cx="9601200" cy="3910313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GB" dirty="0"/>
              <a:t>The goal is to cut the graph into groups so:</a:t>
            </a:r>
          </a:p>
          <a:p>
            <a:pPr lvl="1"/>
            <a:r>
              <a:rPr lang="en-GB" dirty="0"/>
              <a:t>Connections </a:t>
            </a:r>
            <a:r>
              <a:rPr lang="en-GB" i="1" dirty="0"/>
              <a:t>inside</a:t>
            </a:r>
            <a:r>
              <a:rPr lang="en-GB" dirty="0"/>
              <a:t> each group are strong.</a:t>
            </a:r>
          </a:p>
          <a:p>
            <a:pPr lvl="1"/>
            <a:r>
              <a:rPr lang="en-GB" dirty="0"/>
              <a:t>Connections </a:t>
            </a:r>
            <a:r>
              <a:rPr lang="en-GB" i="1" dirty="0"/>
              <a:t>between</a:t>
            </a:r>
            <a:r>
              <a:rPr lang="en-GB" dirty="0"/>
              <a:t> groups are weak.</a:t>
            </a:r>
          </a:p>
          <a:p>
            <a:pPr marL="0" indent="0">
              <a:buNone/>
            </a:pPr>
            <a:r>
              <a:rPr lang="en-GB" dirty="0"/>
              <a:t>Spectral clustering finds where to “cut” the graph using eigenvectors instead of trying every possible cut (which would be too slow).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27923-1C3A-712F-6862-1B1FB6C1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25741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F1AEA-9B78-BB03-B9C6-417726749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924AD-81B5-C871-B473-15CE5CD5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Complexity and 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51FDA-F7D0-7C2E-BD44-38336AF20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r>
                  <a:rPr lang="en-GB" b="1" dirty="0"/>
                  <a:t>Time complexity:</a:t>
                </a:r>
                <a:r>
                  <a:rPr lang="en-GB" dirty="0"/>
                  <a:t> about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for large data (due to eigenvalue calculation).</a:t>
                </a:r>
              </a:p>
              <a:p>
                <a:r>
                  <a:rPr lang="en-GB" b="1" dirty="0"/>
                  <a:t>Space: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to store the similarity matrix.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/>
                  <a:t>Optimizations:</a:t>
                </a:r>
              </a:p>
              <a:p>
                <a:r>
                  <a:rPr lang="en-GB" dirty="0"/>
                  <a:t>Use </a:t>
                </a:r>
                <a:r>
                  <a:rPr lang="en-GB" b="1" dirty="0"/>
                  <a:t>sparse graphs</a:t>
                </a:r>
                <a:r>
                  <a:rPr lang="en-GB" dirty="0"/>
                  <a:t> (k-NN).</a:t>
                </a:r>
              </a:p>
              <a:p>
                <a:r>
                  <a:rPr lang="en-GB" dirty="0"/>
                  <a:t>Apply </a:t>
                </a:r>
                <a:r>
                  <a:rPr lang="en-GB" b="1" dirty="0"/>
                  <a:t>approximate eigen-solvers</a:t>
                </a:r>
                <a:r>
                  <a:rPr lang="en-GB" dirty="0"/>
                  <a:t> or </a:t>
                </a:r>
                <a:r>
                  <a:rPr lang="en-GB" b="1" dirty="0"/>
                  <a:t>Nyström method</a:t>
                </a:r>
                <a:r>
                  <a:rPr lang="en-GB" dirty="0"/>
                  <a:t> for large datasets.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51FDA-F7D0-7C2E-BD44-38336AF20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8" t="-1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6CC88-BD95-46BC-59EA-2D150A5B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8869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BDF9D-CA6F-F36E-EA7A-7BA71348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71D4-64E4-2E3F-722A-3EDA3A0C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Real-World 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4A1C-9188-FCC9-4D5F-F6B8E0DF2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en-GB" b="1" dirty="0"/>
              <a:t>Social Network Analysis: </a:t>
            </a:r>
            <a:r>
              <a:rPr lang="en-GB" dirty="0"/>
              <a:t>Detecting communities (friend groups, influencers).</a:t>
            </a:r>
          </a:p>
          <a:p>
            <a:r>
              <a:rPr lang="en-GB" b="1" dirty="0"/>
              <a:t>Image Segmentation: </a:t>
            </a:r>
            <a:r>
              <a:rPr lang="en-GB" dirty="0"/>
              <a:t>Partitioning images into meaningful regions.</a:t>
            </a:r>
          </a:p>
          <a:p>
            <a:r>
              <a:rPr lang="en-GB" b="1" dirty="0"/>
              <a:t>Bioinformatics:</a:t>
            </a:r>
            <a:r>
              <a:rPr lang="en-GB" dirty="0"/>
              <a:t> Discovering groups of genes/proteins with similar functions.</a:t>
            </a:r>
          </a:p>
          <a:p>
            <a:r>
              <a:rPr lang="en-GB" b="1" dirty="0"/>
              <a:t>Document Clustering: </a:t>
            </a:r>
            <a:r>
              <a:rPr lang="en-GB" dirty="0"/>
              <a:t>Grouping similar texts or news articles.</a:t>
            </a:r>
          </a:p>
          <a:p>
            <a:r>
              <a:rPr lang="en-GB" b="1" dirty="0"/>
              <a:t>Recommendation Systems:</a:t>
            </a:r>
            <a:r>
              <a:rPr lang="en-GB" dirty="0"/>
              <a:t> Identifying clusters of similar users or products.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680C1-68A4-1166-8BF7-42F8A685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3769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B0F9-BF64-8E70-4222-DECE7FEC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57FA-E3D7-749A-B045-587A3C5C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CEB7-61AE-5DCE-7BF5-78370272E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en-GB" dirty="0"/>
              <a:t>Spectral Clustering = </a:t>
            </a:r>
            <a:r>
              <a:rPr lang="en-GB" i="1" dirty="0"/>
              <a:t>Graph Theory + Linear Algebra + Clustering.</a:t>
            </a:r>
            <a:endParaRPr lang="en-GB" dirty="0"/>
          </a:p>
          <a:p>
            <a:r>
              <a:rPr lang="en-GB" dirty="0"/>
              <a:t>It doesn’t assume any shape: it works on </a:t>
            </a:r>
            <a:r>
              <a:rPr lang="en-GB" b="1" dirty="0"/>
              <a:t>complex structures</a:t>
            </a:r>
            <a:r>
              <a:rPr lang="en-GB" dirty="0"/>
              <a:t>.</a:t>
            </a:r>
          </a:p>
          <a:p>
            <a:r>
              <a:rPr lang="en-GB" dirty="0"/>
              <a:t>Uses </a:t>
            </a:r>
            <a:r>
              <a:rPr lang="en-GB" b="1" dirty="0"/>
              <a:t>Laplacian eigenvectors</a:t>
            </a:r>
            <a:r>
              <a:rPr lang="en-GB" dirty="0"/>
              <a:t> to find hidden clusters.</a:t>
            </a:r>
          </a:p>
          <a:p>
            <a:r>
              <a:rPr lang="en-GB" dirty="0"/>
              <a:t>Can handle </a:t>
            </a:r>
            <a:r>
              <a:rPr lang="en-GB" b="1" dirty="0"/>
              <a:t>non-linear, graph-based data</a:t>
            </a:r>
            <a:r>
              <a:rPr lang="en-GB" dirty="0"/>
              <a:t> better than K-Means.</a:t>
            </a:r>
          </a:p>
          <a:p>
            <a:r>
              <a:rPr lang="en-GB" dirty="0"/>
              <a:t>Complexity can be optimized.</a:t>
            </a:r>
          </a:p>
          <a:p>
            <a:r>
              <a:rPr lang="en-GB" dirty="0"/>
              <a:t>Real power lies in </a:t>
            </a:r>
            <a:r>
              <a:rPr lang="en-GB" b="1" dirty="0"/>
              <a:t>interpreting relationships, not just distances.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E3FED-81A3-1428-A663-25A785CE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85205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C7A1-26BE-DF4A-6BB6-453C6AE1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545D-2675-1AF5-BD97-3FEF1E16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1BA7-D268-E11A-1D84-7344403BD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buNone/>
            </a:pPr>
            <a:r>
              <a:rPr lang="en-GB" dirty="0">
                <a:hlinkClick r:id="rId3"/>
              </a:rPr>
              <a:t>Luxburg07_tutorial_spectral_clustering.pdf</a:t>
            </a:r>
            <a:endParaRPr lang="en-GB" dirty="0">
              <a:hlinkClick r:id="rId4"/>
            </a:endParaRPr>
          </a:p>
          <a:p>
            <a:pPr>
              <a:buNone/>
            </a:pPr>
            <a:r>
              <a:rPr lang="en-GB" dirty="0">
                <a:hlinkClick r:id="rId4"/>
              </a:rPr>
              <a:t>What is Spectral Clustering and how its work?</a:t>
            </a:r>
            <a:endParaRPr lang="en-GB" dirty="0"/>
          </a:p>
          <a:p>
            <a:pPr>
              <a:buNone/>
            </a:pPr>
            <a:r>
              <a:rPr lang="en-GB" dirty="0">
                <a:hlinkClick r:id="rId5"/>
              </a:rPr>
              <a:t>Spectral clustering – Wikipedia</a:t>
            </a:r>
            <a:endParaRPr lang="en-GB" dirty="0"/>
          </a:p>
          <a:p>
            <a:pPr>
              <a:buNone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D7B07-6237-356A-5786-D4252644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44881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9413C-7BB2-E7E1-B674-BDDCB6275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F55E-2944-82E8-39C6-22BB34A35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/>
          <a:p>
            <a:r>
              <a:rPr lang="en-GB" dirty="0"/>
              <a:t>Thank you for your attention!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C5071A3-7AF2-D8D6-39AB-BC8073702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/>
          <a:lstStyle/>
          <a:p>
            <a:r>
              <a:rPr lang="en-US" dirty="0"/>
              <a:t>Spectral Clustering </a:t>
            </a:r>
          </a:p>
        </p:txBody>
      </p:sp>
    </p:spTree>
    <p:extLst>
      <p:ext uri="{BB962C8B-B14F-4D97-AF65-F5344CB8AC3E}">
        <p14:creationId xmlns:p14="http://schemas.microsoft.com/office/powerpoint/2010/main" val="115646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973C-0233-A5A2-7141-8509D00C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DC50-7883-1A3D-4946-9E23DE885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K-Means vs Spectral Clustering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F154028-DD3C-F45A-E4FF-52659ED18C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346226"/>
              </p:ext>
            </p:extLst>
          </p:nvPr>
        </p:nvGraphicFramePr>
        <p:xfrm>
          <a:off x="1295400" y="2331720"/>
          <a:ext cx="9601199" cy="2840160"/>
        </p:xfrm>
        <a:graphic>
          <a:graphicData uri="http://schemas.openxmlformats.org/drawingml/2006/table">
            <a:tbl>
              <a:tblPr/>
              <a:tblGrid>
                <a:gridCol w="2009413">
                  <a:extLst>
                    <a:ext uri="{9D8B030D-6E8A-4147-A177-3AD203B41FA5}">
                      <a16:colId xmlns:a16="http://schemas.microsoft.com/office/drawing/2014/main" val="3274164249"/>
                    </a:ext>
                  </a:extLst>
                </a:gridCol>
                <a:gridCol w="3795893">
                  <a:extLst>
                    <a:ext uri="{9D8B030D-6E8A-4147-A177-3AD203B41FA5}">
                      <a16:colId xmlns:a16="http://schemas.microsoft.com/office/drawing/2014/main" val="2107871550"/>
                    </a:ext>
                  </a:extLst>
                </a:gridCol>
                <a:gridCol w="3795893">
                  <a:extLst>
                    <a:ext uri="{9D8B030D-6E8A-4147-A177-3AD203B41FA5}">
                      <a16:colId xmlns:a16="http://schemas.microsoft.com/office/drawing/2014/main" val="3268367093"/>
                    </a:ext>
                  </a:extLst>
                </a:gridCol>
              </a:tblGrid>
              <a:tr h="378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K-Means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Spectral Clustering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21101"/>
                  </a:ext>
                </a:extLst>
              </a:tr>
              <a:tr h="378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Cluster 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Spherical (convex)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Any shape (Can be non-convex)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854088"/>
                  </a:ext>
                </a:extLst>
              </a:tr>
              <a:tr h="378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Basis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Connections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215946"/>
                  </a:ext>
                </a:extLst>
              </a:tr>
              <a:tr h="662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Works best on numeric data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Works great on graphs or connected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861639"/>
                  </a:ext>
                </a:extLst>
              </a:tr>
              <a:tr h="662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Slower (more math)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951543"/>
                  </a:ext>
                </a:extLst>
              </a:tr>
              <a:tr h="378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Cluster centres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Groups based on connections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60347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270AF-7006-D0FC-9F82-6DAF789F3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5480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62FA-01D5-7185-0564-0CEFA40D5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B092-B48F-584D-DE17-AB66B944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Complexity and 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55BD80-DF66-79AA-AE86-D1522B94D3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Spectral clustering involves </a:t>
                </a:r>
                <a:r>
                  <a:rPr lang="en-GB" b="1" dirty="0"/>
                  <a:t>eigen-decomposition</a:t>
                </a:r>
                <a:r>
                  <a:rPr lang="en-GB" dirty="0"/>
                  <a:t> of an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matrix.</a:t>
                </a:r>
              </a:p>
              <a:p>
                <a:r>
                  <a:rPr lang="en-GB" b="1" dirty="0"/>
                  <a:t>Time complexity: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for full eigen decomposition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sepChr m:val="⋅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if we only take top k eigenvectors (using sparse solvers)</a:t>
                </a:r>
              </a:p>
              <a:p>
                <a:r>
                  <a:rPr lang="en-GB" b="1" dirty="0"/>
                  <a:t>Space complexity: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for storing similarity matrix</a:t>
                </a:r>
              </a:p>
              <a:p>
                <a:pPr marL="0" indent="0">
                  <a:buNone/>
                </a:pP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/>
                  <a:t>Optimizations:</a:t>
                </a:r>
              </a:p>
              <a:p>
                <a:r>
                  <a:rPr lang="en-GB" dirty="0"/>
                  <a:t>Use </a:t>
                </a:r>
                <a:r>
                  <a:rPr lang="en-GB" b="1" dirty="0"/>
                  <a:t>sparse graphs</a:t>
                </a:r>
                <a:r>
                  <a:rPr lang="en-GB" dirty="0"/>
                  <a:t> (k-NN).</a:t>
                </a:r>
              </a:p>
              <a:p>
                <a:r>
                  <a:rPr lang="en-GB" dirty="0"/>
                  <a:t>Apply </a:t>
                </a:r>
                <a:r>
                  <a:rPr lang="en-GB" b="1" dirty="0"/>
                  <a:t>approximate eigen-solvers</a:t>
                </a:r>
                <a:r>
                  <a:rPr lang="en-GB" dirty="0"/>
                  <a:t> or </a:t>
                </a:r>
                <a:r>
                  <a:rPr lang="en-GB" b="1" dirty="0"/>
                  <a:t>Nyström method</a:t>
                </a:r>
                <a:r>
                  <a:rPr lang="en-GB" dirty="0"/>
                  <a:t> for large datasets.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55BD80-DF66-79AA-AE86-D1522B94D3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5" t="-2400" b="-20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19121-C952-6243-38AC-55DEEA17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2D2E2D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094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326_TF03031015.potx" id="{3D03E32A-101D-4991-8040-890457B668DB}" vid="{F1BB8C7C-F58A-4EC0-851B-3944A6AC18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1334</Words>
  <Application>Microsoft Office PowerPoint</Application>
  <PresentationFormat>Widescreen</PresentationFormat>
  <Paragraphs>229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Cambria Math</vt:lpstr>
      <vt:lpstr>Wingdings</vt:lpstr>
      <vt:lpstr>Diamond Grid 16x9</vt:lpstr>
      <vt:lpstr>Spectral Clustering</vt:lpstr>
      <vt:lpstr>What is Clustering?</vt:lpstr>
      <vt:lpstr>What is Spectral Clustering?</vt:lpstr>
      <vt:lpstr>Why is Spectral Clustering powerful?</vt:lpstr>
      <vt:lpstr>Representing Data as a Graph </vt:lpstr>
      <vt:lpstr>Building the Similarity Graph (1/3)</vt:lpstr>
      <vt:lpstr>Representing Data as a Graph (2/3)</vt:lpstr>
      <vt:lpstr>Representing Data as a Graph (3/3)</vt:lpstr>
      <vt:lpstr>Matrices in Spectral Clustering (1/3)</vt:lpstr>
      <vt:lpstr>Matrices in Spectral Clustering (2/3)</vt:lpstr>
      <vt:lpstr>Matrices in Spectral Clustering (3/3)</vt:lpstr>
      <vt:lpstr>Normalized Laplacians</vt:lpstr>
      <vt:lpstr>Eigenvalues and Eigenvectors (1/2)</vt:lpstr>
      <vt:lpstr>Eigenvalues and Eigenvectors (2/2)</vt:lpstr>
      <vt:lpstr>Spectral Clustering Algorithm</vt:lpstr>
      <vt:lpstr>Algorithm Variants (1/2)</vt:lpstr>
      <vt:lpstr>Algorithm Variants (2/2)</vt:lpstr>
      <vt:lpstr>Graph Cuts</vt:lpstr>
      <vt:lpstr>The Graph Cutting Idea</vt:lpstr>
      <vt:lpstr>Complexity and Limitations</vt:lpstr>
      <vt:lpstr>Real-World Applications </vt:lpstr>
      <vt:lpstr>Summary</vt:lpstr>
      <vt:lpstr>References </vt:lpstr>
      <vt:lpstr>Thank you for your attention!</vt:lpstr>
      <vt:lpstr>K-Means vs Spectral Clustering</vt:lpstr>
      <vt:lpstr>Complexity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fhalyosser</dc:creator>
  <cp:lastModifiedBy>fhalyosser</cp:lastModifiedBy>
  <cp:revision>1</cp:revision>
  <dcterms:created xsi:type="dcterms:W3CDTF">2025-11-03T13:41:29Z</dcterms:created>
  <dcterms:modified xsi:type="dcterms:W3CDTF">2025-11-20T17:22:49Z</dcterms:modified>
</cp:coreProperties>
</file>